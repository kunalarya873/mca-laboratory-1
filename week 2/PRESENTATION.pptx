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B29"/>
    <a:srgbClr val="00C2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1794559257675151E-2"/>
          <c:y val="0.15654536217096837"/>
          <c:w val="0.9232825930399734"/>
          <c:h val="0.6473217697272013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 Index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27</c:v>
                </c:pt>
                <c:pt idx="2">
                  <c:v>26</c:v>
                </c:pt>
                <c:pt idx="3">
                  <c:v>48</c:v>
                </c:pt>
                <c:pt idx="4">
                  <c:v>61</c:v>
                </c:pt>
                <c:pt idx="5">
                  <c:v>74</c:v>
                </c:pt>
                <c:pt idx="6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50-43CB-AC54-BE19C9E95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3657632"/>
        <c:axId val="2133016992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</c:v>
                      </c:pt>
                      <c:pt idx="6">
                        <c:v>2025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C050-43CB-AC54-BE19C9E958CF}"/>
                  </c:ext>
                </c:extLst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Sheet1!$C$2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</c:v>
                      </c:pt>
                      <c:pt idx="6">
                        <c:v>2025</c:v>
                      </c:pt>
                    </c:numCache>
                  </c:num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Sheet1!$C$3:$C$8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C050-43CB-AC54-BE19C9E958CF}"/>
                  </c:ext>
                </c:extLst>
              </c15:ser>
            </c15:filteredLineSeries>
          </c:ext>
        </c:extLst>
      </c:lineChart>
      <c:catAx>
        <c:axId val="2053657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3016992"/>
        <c:crosses val="autoZero"/>
        <c:auto val="1"/>
        <c:lblAlgn val="ctr"/>
        <c:lblOffset val="100"/>
        <c:noMultiLvlLbl val="0"/>
      </c:catAx>
      <c:valAx>
        <c:axId val="213301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657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9345066513559351"/>
          <c:y val="2.76551533037292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Usage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Healthcare</c:v>
                </c:pt>
                <c:pt idx="1">
                  <c:v>Finance</c:v>
                </c:pt>
                <c:pt idx="2">
                  <c:v>Education</c:v>
                </c:pt>
                <c:pt idx="3">
                  <c:v>Manufacturing</c:v>
                </c:pt>
                <c:pt idx="4">
                  <c:v>Retail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81</c:v>
                </c:pt>
                <c:pt idx="2">
                  <c:v>65</c:v>
                </c:pt>
                <c:pt idx="3">
                  <c:v>78</c:v>
                </c:pt>
                <c:pt idx="4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C1-48D3-9214-4271F3F2F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5287040"/>
        <c:axId val="305293280"/>
      </c:barChart>
      <c:catAx>
        <c:axId val="305287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293280"/>
        <c:crosses val="autoZero"/>
        <c:auto val="1"/>
        <c:lblAlgn val="ctr"/>
        <c:lblOffset val="100"/>
        <c:noMultiLvlLbl val="0"/>
      </c:catAx>
      <c:valAx>
        <c:axId val="305293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5287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382CF-AB0B-4CC0-A63B-0C110F65C45F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07A5D-5338-422C-A11D-92456ADB6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6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1C44C-309F-4A4C-A593-E4FA7EA0107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8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210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CA0140-B6B2-4536-BC33-9AC5CB946A6E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81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997E2-F93D-4F56-B566-CA246E8430D9}" type="datetime1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37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CDC5-0F7C-4422-8D97-9832FA4B5BC2}" type="datetime1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27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B4BC-8A22-46F1-A95F-FE627D5482D9}" type="datetime1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77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AAF89-1F75-42C1-9DB8-FC15A95FE16A}" type="datetime1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72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891A-9936-482C-89CD-CC0320393DC2}" type="datetime1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3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EE195-C8CA-4969-866C-C4CBE8DA756F}" type="datetime1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19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2B1D-A56A-4727-85AE-E720E1F8AC76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17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37B5246B-A08C-42A8-B8AC-7E5270D229C5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43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2257F909-DAA1-4D07-AB60-60F989062D15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6A5188FF-520B-474B-A221-7C052278A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52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C3BE-0C97-A7D9-7EB0-75BEF9203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Aptos" panose="020B0004020202020204" pitchFamily="34" charset="0"/>
              </a:rPr>
              <a:t>ARTIFICIAL INTELLIGENCE</a:t>
            </a:r>
            <a:endParaRPr lang="en-IN" sz="44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844C5-9EE5-C73B-D75F-5B4771593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C2D7"/>
                </a:solidFill>
                <a:latin typeface="Aptos" panose="020B0004020202020204" pitchFamily="34" charset="0"/>
              </a:rPr>
              <a:t>Transforming the Future</a:t>
            </a:r>
            <a:endParaRPr lang="en-IN" sz="2400" dirty="0">
              <a:solidFill>
                <a:srgbClr val="00C2D7"/>
              </a:solidFill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BF5E-5633-ECD6-0ADC-5F7F73B56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77C3F-9704-4070-98F4-E76F28B45D81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CB95A-BA69-DAC9-04AA-ED16ED0E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94085-DACF-AA8C-5933-5BF47BF7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1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020787-DC00-33B4-D9AA-10A229A5A5F4}"/>
              </a:ext>
            </a:extLst>
          </p:cNvPr>
          <p:cNvCxnSpPr/>
          <p:nvPr/>
        </p:nvCxnSpPr>
        <p:spPr>
          <a:xfrm>
            <a:off x="2565918" y="3321698"/>
            <a:ext cx="7212564" cy="0"/>
          </a:xfrm>
          <a:prstGeom prst="line">
            <a:avLst/>
          </a:prstGeom>
          <a:ln w="38100">
            <a:solidFill>
              <a:srgbClr val="00C2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52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CE64-F759-4AEA-0CFD-4E2FAAE3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53B0-6A4D-E543-4372-651C8AC18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Artificial intelligence(AI) </a:t>
            </a:r>
            <a:r>
              <a:rPr lang="en-US" dirty="0"/>
              <a:t>enables computers and machines to perform tasks that normally require human intelligence.</a:t>
            </a:r>
          </a:p>
          <a:p>
            <a:r>
              <a:rPr lang="en-US" b="1" dirty="0"/>
              <a:t>Learning</a:t>
            </a:r>
            <a:r>
              <a:rPr lang="en-US" dirty="0"/>
              <a:t> – systems learn patterns from data</a:t>
            </a:r>
          </a:p>
          <a:p>
            <a:r>
              <a:rPr lang="en-US" b="1" dirty="0"/>
              <a:t>Reasoning</a:t>
            </a:r>
            <a:r>
              <a:rPr lang="en-US" dirty="0"/>
              <a:t> – systems use information to make decisions.</a:t>
            </a:r>
          </a:p>
          <a:p>
            <a:r>
              <a:rPr lang="en-US" b="1" dirty="0"/>
              <a:t>Perception</a:t>
            </a:r>
            <a:r>
              <a:rPr lang="en-US" dirty="0"/>
              <a:t> – systems interpret images, speech and other inputs.</a:t>
            </a:r>
          </a:p>
          <a:p>
            <a:r>
              <a:rPr lang="en-US" b="1" dirty="0"/>
              <a:t>Problem Solving </a:t>
            </a:r>
            <a:r>
              <a:rPr lang="en-US" dirty="0"/>
              <a:t>– system find</a:t>
            </a:r>
            <a:r>
              <a:rPr lang="en-IN" dirty="0"/>
              <a:t> solutions to complex tasks.</a:t>
            </a:r>
          </a:p>
          <a:p>
            <a:r>
              <a:rPr lang="en-IN" b="1" dirty="0"/>
              <a:t>Automation</a:t>
            </a:r>
            <a:r>
              <a:rPr lang="en-IN" dirty="0"/>
              <a:t> – repetitive tasks can be performed with minimal human intervention.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58230-E19B-B472-E1DE-5AF0FF1F1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C38C0-E945-1F3C-DD9D-B0A0191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5D7A5-0039-A384-544D-52CBFAE0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317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B914-A356-38D7-E440-053AB1CC1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growth of artificial intelligence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BE51D-A651-4743-DE73-E15EE2E2C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011680"/>
            <a:ext cx="5487130" cy="396803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Illustrative growth in AI adoption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73FB3-B818-10B6-D8DB-DE70DEB0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09CA6-FA27-DEA2-E1BC-519ECCFFD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824AE-6AA9-CDE4-E157-3DC5606EF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F710620-D64D-5B3A-C5E8-C9DCE767E5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3275588"/>
              </p:ext>
            </p:extLst>
          </p:nvPr>
        </p:nvGraphicFramePr>
        <p:xfrm>
          <a:off x="791719" y="2464515"/>
          <a:ext cx="5393094" cy="3572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01D1DC27-204F-D052-0CAB-C41605FCC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263720"/>
              </p:ext>
            </p:extLst>
          </p:nvPr>
        </p:nvGraphicFramePr>
        <p:xfrm>
          <a:off x="6997269" y="2527466"/>
          <a:ext cx="4403012" cy="3673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8681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6716D-BB41-125C-5B22-0717002C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ARTIFICIAL INTELLIGENCE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85ED529-8CA2-5CB3-4C7E-177DBD4A9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054467"/>
              </p:ext>
            </p:extLst>
          </p:nvPr>
        </p:nvGraphicFramePr>
        <p:xfrm>
          <a:off x="1203325" y="2011363"/>
          <a:ext cx="9783676" cy="41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19">
                  <a:extLst>
                    <a:ext uri="{9D8B030D-6E8A-4147-A177-3AD203B41FA5}">
                      <a16:colId xmlns:a16="http://schemas.microsoft.com/office/drawing/2014/main" val="3267000970"/>
                    </a:ext>
                  </a:extLst>
                </a:gridCol>
                <a:gridCol w="2445919">
                  <a:extLst>
                    <a:ext uri="{9D8B030D-6E8A-4147-A177-3AD203B41FA5}">
                      <a16:colId xmlns:a16="http://schemas.microsoft.com/office/drawing/2014/main" val="2063461229"/>
                    </a:ext>
                  </a:extLst>
                </a:gridCol>
                <a:gridCol w="2445919">
                  <a:extLst>
                    <a:ext uri="{9D8B030D-6E8A-4147-A177-3AD203B41FA5}">
                      <a16:colId xmlns:a16="http://schemas.microsoft.com/office/drawing/2014/main" val="1018196667"/>
                    </a:ext>
                  </a:extLst>
                </a:gridCol>
                <a:gridCol w="2445919">
                  <a:extLst>
                    <a:ext uri="{9D8B030D-6E8A-4147-A177-3AD203B41FA5}">
                      <a16:colId xmlns:a16="http://schemas.microsoft.com/office/drawing/2014/main" val="1881885315"/>
                    </a:ext>
                  </a:extLst>
                </a:gridCol>
              </a:tblGrid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FIELD</a:t>
                      </a:r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Application</a:t>
                      </a:r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Benefit</a:t>
                      </a:r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Example</a:t>
                      </a:r>
                      <a:endParaRPr lang="en-IN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28120"/>
                  </a:ext>
                </a:extLst>
              </a:tr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Healthcare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Medical imaging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Faster analysis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Image Analysis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915017"/>
                  </a:ext>
                </a:extLst>
              </a:tr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Finance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Fraud Detection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Risk deduction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Transaction monitoring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61738"/>
                  </a:ext>
                </a:extLst>
              </a:tr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Education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Personalization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Adaptive learning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AI tutors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483509"/>
                  </a:ext>
                </a:extLst>
              </a:tr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Transport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Smart Navigation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Better routing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Route Optimization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931616"/>
                  </a:ext>
                </a:extLst>
              </a:tr>
              <a:tr h="6895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Manufacturing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Automation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Higher efficiency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Industrial robots</a:t>
                      </a:r>
                      <a:endParaRPr lang="en-IN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>
                        <a:alpha val="5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2984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82934-9AA6-532E-6260-2BE2DD852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AE9A5-D520-783E-E5C2-6A736292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77852-B7A3-AD29-5192-FB994329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459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D779-413F-BA5D-D8F7-1D9C889B2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 of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D8DA6-1CED-B814-2E84-165AAC70F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Points</a:t>
            </a:r>
          </a:p>
          <a:p>
            <a:r>
              <a:rPr lang="en-US" dirty="0"/>
              <a:t>Ai will continue to influence everyday life.</a:t>
            </a:r>
          </a:p>
          <a:p>
            <a:r>
              <a:rPr lang="en-US" dirty="0"/>
              <a:t>Human-AI collaboration will become increasingly important.</a:t>
            </a:r>
          </a:p>
          <a:p>
            <a:r>
              <a:rPr lang="en-US" dirty="0"/>
              <a:t>Responsible development will require attention to ethics and privacy.</a:t>
            </a:r>
          </a:p>
          <a:p>
            <a:r>
              <a:rPr lang="en-US" dirty="0"/>
              <a:t>AI skills will become valuable across many careers.</a:t>
            </a:r>
          </a:p>
          <a:p>
            <a:r>
              <a:rPr lang="en-US" dirty="0"/>
              <a:t>Continuous learning will be essential.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C0858-9769-73CA-B69F-0D5F02F5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C5C9-B28B-4415-37BF-F4B74F7E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880D2-EBBA-3D24-C313-52EDAE651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529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10C6-0E30-EF4B-16F7-3839A5A9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+ ai collaboration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0779C-ACFB-6CD8-73A0-3604C884A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2620" y="3246437"/>
            <a:ext cx="4173045" cy="365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LEARN ∙ ADAPT ∙ INNOVATE</a:t>
            </a:r>
            <a:endParaRPr lang="en-IN" sz="24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B2EF2-DEF8-9F92-11EA-2245A247D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798B6-338B-441C-93CA-9B2FEB5E5A27}" type="datetime1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936A1-8D03-5C6F-E5C3-D5BCE909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MCA-I     |     LABORATORY    |     POWERPOINT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6B85-6B09-4F60-C106-1A502E60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188FF-520B-474B-A221-7C052278A4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247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46</TotalTime>
  <Words>236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Calibri</vt:lpstr>
      <vt:lpstr>Corbel</vt:lpstr>
      <vt:lpstr>Wingdings</vt:lpstr>
      <vt:lpstr>Banded</vt:lpstr>
      <vt:lpstr>ARTIFICIAL INTELLIGENCE</vt:lpstr>
      <vt:lpstr>What is artificial intelligence?</vt:lpstr>
      <vt:lpstr>The growth of artificial intelligence</vt:lpstr>
      <vt:lpstr>APPLICATIONS OF ARTIFICIAL INTELLIGENCE</vt:lpstr>
      <vt:lpstr>The future of AI</vt:lpstr>
      <vt:lpstr>Human + ai collaboration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CSD</dc:creator>
  <cp:lastModifiedBy>CSD</cp:lastModifiedBy>
  <cp:revision>1</cp:revision>
  <dcterms:created xsi:type="dcterms:W3CDTF">2026-08-18T06:50:46Z</dcterms:created>
  <dcterms:modified xsi:type="dcterms:W3CDTF">2026-08-18T07:36:58Z</dcterms:modified>
</cp:coreProperties>
</file>